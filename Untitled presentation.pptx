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6a7c58dcbd821d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6a7c58dcbd821d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66a7c58dcbd821d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66a7c58dcbd821d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66a7c58dcbd821d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66a7c58dcbd821d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66a7c58dcbd821d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66a7c58dcbd821d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66a7c58dcbd821d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66a7c58dcbd821d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66a7c58dcbd821d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66a7c58dcbd821d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66a7c58dcbd821d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66a7c58dcbd821d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66a7c58dcbd821d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66a7c58dcbd821d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66a7c58dcbd821d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66a7c58dcbd821d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66a7c58dcbd821d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66a7c58dcbd821d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66a7c58dcbd821d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66a7c58dcbd821d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66a7c58dcbd821d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66a7c58dcbd821d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66a7c58dcbd821d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66a7c58dcbd821d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66a7c58dcbd821d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h66a7c58dcbd821d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66a7c58dcbd821d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66a7c58dcbd821d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66a7c58dcbd821d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66a7c58dcbd821d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66a7c58dcbd821d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66a7c58dcbd821d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66a7c58dcbd821d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66a7c58dcbd821d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66a7c58dcbd821dc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66a7c58dcbd821dc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66a7c58dcbd821dc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66a7c58dcbd821d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66a7c58dcbd821d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66a7c58dcbd821d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894975"/>
            <a:ext cx="8520600" cy="469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sz="2000"/>
              <a:t>Heart Disease Prediction System </a:t>
            </a:r>
            <a:endParaRPr b="1" sz="2000"/>
          </a:p>
        </p:txBody>
      </p:sp>
      <p:sp>
        <p:nvSpPr>
          <p:cNvPr id="55" name="Google Shape;55;p13"/>
          <p:cNvSpPr txBox="1"/>
          <p:nvPr>
            <p:ph idx="1" type="subTitle"/>
          </p:nvPr>
        </p:nvSpPr>
        <p:spPr>
          <a:xfrm>
            <a:off x="311700" y="1715400"/>
            <a:ext cx="8520600" cy="29079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1400"/>
              </a:spcBef>
              <a:spcAft>
                <a:spcPts val="0"/>
              </a:spcAft>
              <a:buNone/>
            </a:pPr>
            <a:r>
              <a:rPr b="1" lang="en-GB" sz="1542">
                <a:solidFill>
                  <a:schemeClr val="dk1"/>
                </a:solidFill>
              </a:rPr>
              <a:t>1. </a:t>
            </a:r>
            <a:r>
              <a:rPr b="1" lang="en-GB" sz="1542">
                <a:solidFill>
                  <a:schemeClr val="dk1"/>
                </a:solidFill>
              </a:rPr>
              <a:t>Project Purpose</a:t>
            </a:r>
            <a:endParaRPr b="1" sz="1542">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300">
                <a:solidFill>
                  <a:schemeClr val="dk1"/>
                </a:solidFill>
              </a:rPr>
              <a:t>The purpose of this project is to develop a Machine Learning system that can predict the possibility of heart disease using patient health information.</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500">
                <a:solidFill>
                  <a:schemeClr val="dk1"/>
                </a:solidFill>
              </a:rPr>
              <a:t>Problem Statement</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300">
                <a:solidFill>
                  <a:schemeClr val="dk1"/>
                </a:solidFill>
              </a:rPr>
              <a:t>Heart disease is a common health problem, and early identification can help in better decision-making. This project uses patient medical data such as age, blood pressure, cholesterol, and maximum heart rate to predict whether heart disease may be present.</a:t>
            </a:r>
            <a:endParaRPr sz="13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0142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b="1" lang="en-GB" sz="1500"/>
              <a:t>2. Objectives</a:t>
            </a:r>
            <a:endParaRPr b="1" sz="1500"/>
          </a:p>
        </p:txBody>
      </p:sp>
      <p:sp>
        <p:nvSpPr>
          <p:cNvPr id="61" name="Google Shape;61;p14"/>
          <p:cNvSpPr txBox="1"/>
          <p:nvPr>
            <p:ph idx="1" type="body"/>
          </p:nvPr>
        </p:nvSpPr>
        <p:spPr>
          <a:xfrm>
            <a:off x="311700" y="1586950"/>
            <a:ext cx="8520600" cy="2284200"/>
          </a:xfrm>
          <a:prstGeom prst="rect">
            <a:avLst/>
          </a:prstGeom>
        </p:spPr>
        <p:txBody>
          <a:bodyPr anchorCtr="0" anchor="t" bIns="91425" lIns="91425" spcFirstLastPara="1" rIns="91425" wrap="square" tIns="91425">
            <a:normAutofit fontScale="85000"/>
          </a:bodyPr>
          <a:lstStyle/>
          <a:p>
            <a:pPr indent="0" lvl="0" marL="0" rtl="0" algn="l">
              <a:spcBef>
                <a:spcPts val="1200"/>
              </a:spcBef>
              <a:spcAft>
                <a:spcPts val="0"/>
              </a:spcAft>
              <a:buClr>
                <a:schemeClr val="dk1"/>
              </a:buClr>
              <a:buSzPct val="84615"/>
              <a:buFont typeface="Arial"/>
              <a:buNone/>
            </a:pPr>
            <a:r>
              <a:rPr lang="en-GB" sz="1300">
                <a:solidFill>
                  <a:schemeClr val="dk1"/>
                </a:solidFill>
              </a:rPr>
              <a:t>The main objectives of this project are:</a:t>
            </a:r>
            <a:endParaRPr sz="1300">
              <a:solidFill>
                <a:schemeClr val="dk1"/>
              </a:solidFill>
            </a:endParaRPr>
          </a:p>
          <a:p>
            <a:pPr indent="-298768" lvl="0" marL="457200" rtl="0" algn="l">
              <a:lnSpc>
                <a:spcPct val="150000"/>
              </a:lnSpc>
              <a:spcBef>
                <a:spcPts val="1200"/>
              </a:spcBef>
              <a:spcAft>
                <a:spcPts val="0"/>
              </a:spcAft>
              <a:buClr>
                <a:schemeClr val="dk1"/>
              </a:buClr>
              <a:buSzPct val="100000"/>
              <a:buChar char="●"/>
            </a:pPr>
            <a:r>
              <a:rPr b="1" lang="en-GB" sz="1300">
                <a:solidFill>
                  <a:schemeClr val="dk1"/>
                </a:solidFill>
              </a:rPr>
              <a:t>Heart Disease Prediction:</a:t>
            </a:r>
            <a:r>
              <a:rPr lang="en-GB" sz="1300">
                <a:solidFill>
                  <a:schemeClr val="dk1"/>
                </a:solidFill>
              </a:rPr>
              <a:t> Predict whether a patient may have heart disease.</a:t>
            </a:r>
            <a:endParaRPr sz="1300">
              <a:solidFill>
                <a:schemeClr val="dk1"/>
              </a:solidFill>
            </a:endParaRPr>
          </a:p>
          <a:p>
            <a:pPr indent="-298768" lvl="0" marL="457200" rtl="0" algn="l">
              <a:lnSpc>
                <a:spcPct val="150000"/>
              </a:lnSpc>
              <a:spcBef>
                <a:spcPts val="0"/>
              </a:spcBef>
              <a:spcAft>
                <a:spcPts val="0"/>
              </a:spcAft>
              <a:buClr>
                <a:schemeClr val="dk1"/>
              </a:buClr>
              <a:buSzPct val="100000"/>
              <a:buChar char="●"/>
            </a:pPr>
            <a:r>
              <a:rPr b="1" lang="en-GB" sz="1300">
                <a:solidFill>
                  <a:schemeClr val="dk1"/>
                </a:solidFill>
              </a:rPr>
              <a:t>Patient Data Analysis:</a:t>
            </a:r>
            <a:r>
              <a:rPr lang="en-GB" sz="1300">
                <a:solidFill>
                  <a:schemeClr val="dk1"/>
                </a:solidFill>
              </a:rPr>
              <a:t> Analyze important patient information such as age, blood pressure, and cholesterol.</a:t>
            </a:r>
            <a:endParaRPr sz="1300">
              <a:solidFill>
                <a:schemeClr val="dk1"/>
              </a:solidFill>
            </a:endParaRPr>
          </a:p>
          <a:p>
            <a:pPr indent="-298768" lvl="0" marL="457200" rtl="0" algn="l">
              <a:lnSpc>
                <a:spcPct val="150000"/>
              </a:lnSpc>
              <a:spcBef>
                <a:spcPts val="0"/>
              </a:spcBef>
              <a:spcAft>
                <a:spcPts val="0"/>
              </a:spcAft>
              <a:buClr>
                <a:schemeClr val="dk1"/>
              </a:buClr>
              <a:buSzPct val="100000"/>
              <a:buChar char="●"/>
            </a:pPr>
            <a:r>
              <a:rPr b="1" lang="en-GB" sz="1300">
                <a:solidFill>
                  <a:schemeClr val="dk1"/>
                </a:solidFill>
              </a:rPr>
              <a:t>Train a Machine Learning Model:</a:t>
            </a:r>
            <a:r>
              <a:rPr lang="en-GB" sz="1300">
                <a:solidFill>
                  <a:schemeClr val="dk1"/>
                </a:solidFill>
              </a:rPr>
              <a:t> Train a Random Forest model using patient data.</a:t>
            </a:r>
            <a:endParaRPr sz="1300">
              <a:solidFill>
                <a:schemeClr val="dk1"/>
              </a:solidFill>
            </a:endParaRPr>
          </a:p>
          <a:p>
            <a:pPr indent="-298768" lvl="0" marL="457200" rtl="0" algn="l">
              <a:lnSpc>
                <a:spcPct val="150000"/>
              </a:lnSpc>
              <a:spcBef>
                <a:spcPts val="0"/>
              </a:spcBef>
              <a:spcAft>
                <a:spcPts val="0"/>
              </a:spcAft>
              <a:buClr>
                <a:schemeClr val="dk1"/>
              </a:buClr>
              <a:buSzPct val="100000"/>
              <a:buChar char="●"/>
            </a:pPr>
            <a:r>
              <a:rPr b="1" lang="en-GB" sz="1300">
                <a:solidFill>
                  <a:schemeClr val="dk1"/>
                </a:solidFill>
              </a:rPr>
              <a:t>Show Prediction Probability:</a:t>
            </a:r>
            <a:r>
              <a:rPr lang="en-GB" sz="1300">
                <a:solidFill>
                  <a:schemeClr val="dk1"/>
                </a:solidFill>
              </a:rPr>
              <a:t> Show how likely the prediction is.</a:t>
            </a:r>
            <a:endParaRPr sz="1300">
              <a:solidFill>
                <a:schemeClr val="dk1"/>
              </a:solidFill>
            </a:endParaRPr>
          </a:p>
          <a:p>
            <a:pPr indent="-298768" lvl="0" marL="457200" rtl="0" algn="l">
              <a:lnSpc>
                <a:spcPct val="150000"/>
              </a:lnSpc>
              <a:spcBef>
                <a:spcPts val="0"/>
              </a:spcBef>
              <a:spcAft>
                <a:spcPts val="0"/>
              </a:spcAft>
              <a:buClr>
                <a:schemeClr val="dk1"/>
              </a:buClr>
              <a:buSzPct val="100000"/>
              <a:buChar char="●"/>
            </a:pPr>
            <a:r>
              <a:rPr b="1" lang="en-GB" sz="1300">
                <a:solidFill>
                  <a:schemeClr val="dk1"/>
                </a:solidFill>
              </a:rPr>
              <a:t>Interactive Interface:</a:t>
            </a:r>
            <a:r>
              <a:rPr lang="en-GB" sz="1300">
                <a:solidFill>
                  <a:schemeClr val="dk1"/>
                </a:solidFill>
              </a:rPr>
              <a:t> Provide an easy-to-use Streamlit web application for entering patient data and viewing results.</a:t>
            </a:r>
            <a:endParaRPr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500">
                <a:solidFill>
                  <a:schemeClr val="dk1"/>
                </a:solidFill>
              </a:rPr>
              <a:t>3. Dataset Details</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The dataset contains </a:t>
            </a:r>
            <a:r>
              <a:rPr b="1" lang="en-GB" sz="1300">
                <a:solidFill>
                  <a:schemeClr val="dk1"/>
                </a:solidFill>
              </a:rPr>
              <a:t>1,026 patient records</a:t>
            </a:r>
            <a:r>
              <a:rPr lang="en-GB" sz="1300">
                <a:solidFill>
                  <a:schemeClr val="dk1"/>
                </a:solidFill>
              </a:rPr>
              <a:t> and </a:t>
            </a:r>
            <a:r>
              <a:rPr b="1" lang="en-GB" sz="1300">
                <a:solidFill>
                  <a:schemeClr val="dk1"/>
                </a:solidFill>
              </a:rPr>
              <a:t>14 columns</a:t>
            </a:r>
            <a:r>
              <a:rPr lang="en-GB" sz="1300">
                <a:solidFill>
                  <a:schemeClr val="dk1"/>
                </a:solidFill>
              </a:rPr>
              <a:t>. It includes different health-related features such as age, blood pressure, cholesterol, maximum heart rate, and other medical information. The dataset is used to train and test the Machine Learning model for heart disease prediction.</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GB" sz="1500">
                <a:solidFill>
                  <a:schemeClr val="dk1"/>
                </a:solidFill>
              </a:rPr>
              <a:t>Dataset Size:</a:t>
            </a:r>
            <a:endParaRPr b="1" sz="1500">
              <a:solidFill>
                <a:schemeClr val="dk1"/>
              </a:solidFill>
            </a:endParaRPr>
          </a:p>
          <a:p>
            <a:pPr indent="-311150" lvl="0" marL="457200" rtl="0" algn="l">
              <a:spcBef>
                <a:spcPts val="1200"/>
              </a:spcBef>
              <a:spcAft>
                <a:spcPts val="0"/>
              </a:spcAft>
              <a:buClr>
                <a:schemeClr val="dk1"/>
              </a:buClr>
              <a:buSzPts val="1300"/>
              <a:buChar char="●"/>
            </a:pPr>
            <a:r>
              <a:rPr b="1" lang="en-GB" sz="1300">
                <a:solidFill>
                  <a:schemeClr val="dk1"/>
                </a:solidFill>
              </a:rPr>
              <a:t>Total Rows:</a:t>
            </a:r>
            <a:r>
              <a:rPr lang="en-GB" sz="1300">
                <a:solidFill>
                  <a:schemeClr val="dk1"/>
                </a:solidFill>
              </a:rPr>
              <a:t> 1,026</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Total Columns:</a:t>
            </a:r>
            <a:r>
              <a:rPr lang="en-GB" sz="1300">
                <a:solidFill>
                  <a:schemeClr val="dk1"/>
                </a:solidFill>
              </a:rPr>
              <a:t> 14</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Target:</a:t>
            </a:r>
            <a:r>
              <a:rPr lang="en-GB" sz="1300">
                <a:solidFill>
                  <a:schemeClr val="dk1"/>
                </a:solidFill>
              </a:rPr>
              <a:t> Heart Disease Prediction</a:t>
            </a:r>
            <a:endParaRPr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500">
                <a:solidFill>
                  <a:schemeClr val="dk1"/>
                </a:solidFill>
              </a:rPr>
              <a:t>4. Data Preprocessing</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Before training the Machine Learning model, the dataset was prepared for better results.</a:t>
            </a:r>
            <a:endParaRPr sz="1300">
              <a:solidFill>
                <a:schemeClr val="dk1"/>
              </a:solidFill>
            </a:endParaRPr>
          </a:p>
          <a:p>
            <a:pPr indent="-311150" lvl="0" marL="457200" rtl="0" algn="l">
              <a:lnSpc>
                <a:spcPct val="150000"/>
              </a:lnSpc>
              <a:spcBef>
                <a:spcPts val="1200"/>
              </a:spcBef>
              <a:spcAft>
                <a:spcPts val="0"/>
              </a:spcAft>
              <a:buClr>
                <a:schemeClr val="dk1"/>
              </a:buClr>
              <a:buSzPts val="1300"/>
              <a:buChar char="●"/>
            </a:pPr>
            <a:r>
              <a:rPr b="1" lang="en-GB" sz="1300">
                <a:solidFill>
                  <a:schemeClr val="dk1"/>
                </a:solidFill>
              </a:rPr>
              <a:t>Missing Values:</a:t>
            </a:r>
            <a:r>
              <a:rPr lang="en-GB" sz="1300">
                <a:solidFill>
                  <a:schemeClr val="dk1"/>
                </a:solidFill>
              </a:rPr>
              <a:t> The dataset was checked for missing values.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rPr>
              <a:t>Categorical Values:</a:t>
            </a:r>
            <a:r>
              <a:rPr lang="en-GB" sz="1300">
                <a:solidFill>
                  <a:schemeClr val="dk1"/>
                </a:solidFill>
              </a:rPr>
              <a:t> Categorical data was converted into numerical values so the model could understand it.</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rPr>
              <a:t>Features and Target:</a:t>
            </a:r>
            <a:r>
              <a:rPr lang="en-GB" sz="1300">
                <a:solidFill>
                  <a:schemeClr val="dk1"/>
                </a:solidFill>
              </a:rPr>
              <a:t> The input features were separated from the target value.</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GB" sz="1300">
                <a:solidFill>
                  <a:schemeClr val="dk1"/>
                </a:solidFill>
              </a:rPr>
              <a:t>Train and Test Data:</a:t>
            </a:r>
            <a:r>
              <a:rPr lang="en-GB" sz="1300">
                <a:solidFill>
                  <a:schemeClr val="dk1"/>
                </a:solidFill>
              </a:rPr>
              <a:t> The dataset was divided into training and testing data.</a:t>
            </a:r>
            <a:endParaRPr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flipH="1" rot="10800000">
            <a:off x="228125" y="-506950"/>
            <a:ext cx="8520600" cy="18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696275"/>
            <a:ext cx="8520600" cy="4144200"/>
          </a:xfrm>
          <a:prstGeom prst="rect">
            <a:avLst/>
          </a:prstGeom>
        </p:spPr>
        <p:txBody>
          <a:bodyPr anchorCtr="0" anchor="t" bIns="91425" lIns="91425" spcFirstLastPara="1" rIns="91425" wrap="square" tIns="91425">
            <a:normAutofit fontScale="40000" lnSpcReduction="20000"/>
          </a:bodyPr>
          <a:lstStyle/>
          <a:p>
            <a:pPr indent="0" lvl="0" marL="0" rtl="0" algn="l">
              <a:spcBef>
                <a:spcPts val="1800"/>
              </a:spcBef>
              <a:spcAft>
                <a:spcPts val="0"/>
              </a:spcAft>
              <a:buClr>
                <a:schemeClr val="dk1"/>
              </a:buClr>
              <a:buSzPct val="29333"/>
              <a:buFont typeface="Arial"/>
              <a:buNone/>
            </a:pPr>
            <a:r>
              <a:rPr b="1" lang="en-GB" sz="3750">
                <a:solidFill>
                  <a:schemeClr val="dk1"/>
                </a:solidFill>
              </a:rPr>
              <a:t>5. Machine Learning Model</a:t>
            </a:r>
            <a:endParaRPr b="1" sz="3750">
              <a:solidFill>
                <a:schemeClr val="dk1"/>
              </a:solidFill>
            </a:endParaRPr>
          </a:p>
          <a:p>
            <a:pPr indent="0" lvl="0" marL="0" rtl="0" algn="l">
              <a:spcBef>
                <a:spcPts val="1400"/>
              </a:spcBef>
              <a:spcAft>
                <a:spcPts val="0"/>
              </a:spcAft>
              <a:buClr>
                <a:schemeClr val="dk1"/>
              </a:buClr>
              <a:buSzPct val="33846"/>
              <a:buFont typeface="Arial"/>
              <a:buNone/>
            </a:pPr>
            <a:r>
              <a:rPr b="1" lang="en-GB" sz="3250">
                <a:solidFill>
                  <a:schemeClr val="dk1"/>
                </a:solidFill>
              </a:rPr>
              <a:t>Random Forest Classifier</a:t>
            </a:r>
            <a:endParaRPr b="1" sz="3250">
              <a:solidFill>
                <a:schemeClr val="dk1"/>
              </a:solidFill>
            </a:endParaRPr>
          </a:p>
          <a:p>
            <a:pPr indent="0" lvl="0" marL="0" rtl="0" algn="l">
              <a:spcBef>
                <a:spcPts val="1200"/>
              </a:spcBef>
              <a:spcAft>
                <a:spcPts val="0"/>
              </a:spcAft>
              <a:buClr>
                <a:schemeClr val="dk1"/>
              </a:buClr>
              <a:buSzPct val="33846"/>
              <a:buFont typeface="Arial"/>
              <a:buNone/>
            </a:pPr>
            <a:r>
              <a:rPr lang="en-GB" sz="3250">
                <a:solidFill>
                  <a:schemeClr val="dk1"/>
                </a:solidFill>
              </a:rPr>
              <a:t>Random Forest is a </a:t>
            </a:r>
            <a:r>
              <a:rPr b="1" lang="en-GB" sz="3250">
                <a:solidFill>
                  <a:schemeClr val="dk1"/>
                </a:solidFill>
              </a:rPr>
              <a:t>Machine Learning algorithm</a:t>
            </a:r>
            <a:r>
              <a:rPr lang="en-GB" sz="3250">
                <a:solidFill>
                  <a:schemeClr val="dk1"/>
                </a:solidFill>
              </a:rPr>
              <a:t> that uses multiple </a:t>
            </a:r>
            <a:r>
              <a:rPr b="1" lang="en-GB" sz="3250">
                <a:solidFill>
                  <a:schemeClr val="dk1"/>
                </a:solidFill>
              </a:rPr>
              <a:t>Decision Trees</a:t>
            </a:r>
            <a:r>
              <a:rPr lang="en-GB" sz="3250">
                <a:solidFill>
                  <a:schemeClr val="dk1"/>
                </a:solidFill>
              </a:rPr>
              <a:t> to make a prediction.</a:t>
            </a:r>
            <a:endParaRPr sz="3250">
              <a:solidFill>
                <a:schemeClr val="dk1"/>
              </a:solidFill>
            </a:endParaRPr>
          </a:p>
          <a:p>
            <a:pPr indent="0" lvl="0" marL="0" rtl="0" algn="l">
              <a:spcBef>
                <a:spcPts val="1200"/>
              </a:spcBef>
              <a:spcAft>
                <a:spcPts val="0"/>
              </a:spcAft>
              <a:buClr>
                <a:schemeClr val="dk1"/>
              </a:buClr>
              <a:buSzPct val="33846"/>
              <a:buFont typeface="Arial"/>
              <a:buNone/>
            </a:pPr>
            <a:r>
              <a:rPr lang="en-GB" sz="3250">
                <a:solidFill>
                  <a:schemeClr val="dk1"/>
                </a:solidFill>
              </a:rPr>
              <a:t>In our project, Random Forest checks the patient's medical data and predicts whether the patient has </a:t>
            </a:r>
            <a:r>
              <a:rPr b="1" lang="en-GB" sz="3250">
                <a:solidFill>
                  <a:schemeClr val="dk1"/>
                </a:solidFill>
              </a:rPr>
              <a:t>heart disease or not</a:t>
            </a:r>
            <a:r>
              <a:rPr lang="en-GB" sz="3250">
                <a:solidFill>
                  <a:schemeClr val="dk1"/>
                </a:solidFill>
              </a:rPr>
              <a:t>.</a:t>
            </a:r>
            <a:endParaRPr sz="3250">
              <a:solidFill>
                <a:schemeClr val="dk1"/>
              </a:solidFill>
            </a:endParaRPr>
          </a:p>
          <a:p>
            <a:pPr indent="-311150" lvl="0" marL="457200" rtl="0" algn="l">
              <a:spcBef>
                <a:spcPts val="1200"/>
              </a:spcBef>
              <a:spcAft>
                <a:spcPts val="0"/>
              </a:spcAft>
              <a:buClr>
                <a:schemeClr val="dk1"/>
              </a:buClr>
              <a:buSzPct val="100000"/>
              <a:buChar char="●"/>
            </a:pPr>
            <a:r>
              <a:rPr b="1" lang="en-GB" sz="3250">
                <a:solidFill>
                  <a:schemeClr val="dk1"/>
                </a:solidFill>
              </a:rPr>
              <a:t>Algorithm:</a:t>
            </a:r>
            <a:r>
              <a:rPr lang="en-GB" sz="3250">
                <a:solidFill>
                  <a:schemeClr val="dk1"/>
                </a:solidFill>
              </a:rPr>
              <a:t> Random Forest Classifier</a:t>
            </a:r>
            <a:endParaRPr sz="3250">
              <a:solidFill>
                <a:schemeClr val="dk1"/>
              </a:solidFill>
            </a:endParaRPr>
          </a:p>
          <a:p>
            <a:pPr indent="-311150" lvl="0" marL="457200" rtl="0" algn="l">
              <a:spcBef>
                <a:spcPts val="0"/>
              </a:spcBef>
              <a:spcAft>
                <a:spcPts val="0"/>
              </a:spcAft>
              <a:buClr>
                <a:schemeClr val="dk1"/>
              </a:buClr>
              <a:buSzPct val="100000"/>
              <a:buChar char="●"/>
            </a:pPr>
            <a:r>
              <a:rPr b="1" lang="en-GB" sz="3250">
                <a:solidFill>
                  <a:schemeClr val="dk1"/>
                </a:solidFill>
              </a:rPr>
              <a:t>Task:</a:t>
            </a:r>
            <a:r>
              <a:rPr lang="en-GB" sz="3250">
                <a:solidFill>
                  <a:schemeClr val="dk1"/>
                </a:solidFill>
              </a:rPr>
              <a:t> Binary Classification</a:t>
            </a:r>
            <a:endParaRPr sz="3250">
              <a:solidFill>
                <a:schemeClr val="dk1"/>
              </a:solidFill>
            </a:endParaRPr>
          </a:p>
          <a:p>
            <a:pPr indent="-311150" lvl="0" marL="457200" rtl="0" algn="l">
              <a:spcBef>
                <a:spcPts val="0"/>
              </a:spcBef>
              <a:spcAft>
                <a:spcPts val="0"/>
              </a:spcAft>
              <a:buClr>
                <a:schemeClr val="dk1"/>
              </a:buClr>
              <a:buSzPct val="100000"/>
              <a:buChar char="●"/>
            </a:pPr>
            <a:r>
              <a:rPr b="1" lang="en-GB" sz="3250">
                <a:solidFill>
                  <a:schemeClr val="dk1"/>
                </a:solidFill>
              </a:rPr>
              <a:t>Input:</a:t>
            </a:r>
            <a:r>
              <a:rPr lang="en-GB" sz="3250">
                <a:solidFill>
                  <a:schemeClr val="dk1"/>
                </a:solidFill>
              </a:rPr>
              <a:t> Patient medical features</a:t>
            </a:r>
            <a:endParaRPr sz="3250">
              <a:solidFill>
                <a:schemeClr val="dk1"/>
              </a:solidFill>
            </a:endParaRPr>
          </a:p>
          <a:p>
            <a:pPr indent="-311150" lvl="0" marL="457200" rtl="0" algn="l">
              <a:spcBef>
                <a:spcPts val="0"/>
              </a:spcBef>
              <a:spcAft>
                <a:spcPts val="0"/>
              </a:spcAft>
              <a:buClr>
                <a:schemeClr val="dk1"/>
              </a:buClr>
              <a:buSzPct val="100000"/>
              <a:buChar char="●"/>
            </a:pPr>
            <a:r>
              <a:rPr b="1" lang="en-GB" sz="3250">
                <a:solidFill>
                  <a:schemeClr val="dk1"/>
                </a:solidFill>
              </a:rPr>
              <a:t>Output:</a:t>
            </a:r>
            <a:endParaRPr b="1" sz="3250">
              <a:solidFill>
                <a:schemeClr val="dk1"/>
              </a:solidFill>
            </a:endParaRPr>
          </a:p>
          <a:p>
            <a:pPr indent="-311150" lvl="1" marL="914400" rtl="0" algn="l">
              <a:spcBef>
                <a:spcPts val="0"/>
              </a:spcBef>
              <a:spcAft>
                <a:spcPts val="0"/>
              </a:spcAft>
              <a:buClr>
                <a:schemeClr val="dk1"/>
              </a:buClr>
              <a:buSzPct val="100000"/>
              <a:buChar char="○"/>
            </a:pPr>
            <a:r>
              <a:rPr b="1" lang="en-GB" sz="3250">
                <a:solidFill>
                  <a:schemeClr val="dk1"/>
                </a:solidFill>
              </a:rPr>
              <a:t>0 = No Heart Disease</a:t>
            </a:r>
            <a:endParaRPr b="1" sz="3250">
              <a:solidFill>
                <a:schemeClr val="dk1"/>
              </a:solidFill>
            </a:endParaRPr>
          </a:p>
          <a:p>
            <a:pPr indent="-311150" lvl="1" marL="914400" rtl="0" algn="l">
              <a:spcBef>
                <a:spcPts val="0"/>
              </a:spcBef>
              <a:spcAft>
                <a:spcPts val="0"/>
              </a:spcAft>
              <a:buClr>
                <a:schemeClr val="dk1"/>
              </a:buClr>
              <a:buSzPct val="100000"/>
              <a:buChar char="○"/>
            </a:pPr>
            <a:r>
              <a:rPr b="1" lang="en-GB" sz="3250">
                <a:solidFill>
                  <a:schemeClr val="dk1"/>
                </a:solidFill>
              </a:rPr>
              <a:t>1 = Heart Disease</a:t>
            </a:r>
            <a:endParaRPr b="1" sz="3250">
              <a:solidFill>
                <a:schemeClr val="dk1"/>
              </a:solidFill>
            </a:endParaRPr>
          </a:p>
          <a:p>
            <a:pPr indent="0" lvl="0" marL="0" rtl="0" algn="l">
              <a:spcBef>
                <a:spcPts val="1400"/>
              </a:spcBef>
              <a:spcAft>
                <a:spcPts val="0"/>
              </a:spcAft>
              <a:buClr>
                <a:schemeClr val="dk1"/>
              </a:buClr>
              <a:buSzPct val="29333"/>
              <a:buFont typeface="Arial"/>
              <a:buNone/>
            </a:pPr>
            <a:r>
              <a:rPr b="1" lang="en-GB" sz="3750">
                <a:solidFill>
                  <a:schemeClr val="dk1"/>
                </a:solidFill>
              </a:rPr>
              <a:t>How it works</a:t>
            </a:r>
            <a:endParaRPr b="1" sz="3750">
              <a:solidFill>
                <a:schemeClr val="dk1"/>
              </a:solidFill>
            </a:endParaRPr>
          </a:p>
          <a:p>
            <a:pPr indent="0" lvl="0" marL="0" rtl="0" algn="l">
              <a:spcBef>
                <a:spcPts val="1200"/>
              </a:spcBef>
              <a:spcAft>
                <a:spcPts val="0"/>
              </a:spcAft>
              <a:buClr>
                <a:schemeClr val="dk1"/>
              </a:buClr>
              <a:buSzPct val="33846"/>
              <a:buFont typeface="Arial"/>
              <a:buNone/>
            </a:pPr>
            <a:r>
              <a:rPr lang="en-GB" sz="3250">
                <a:solidFill>
                  <a:schemeClr val="dk1"/>
                </a:solidFill>
              </a:rPr>
              <a:t>Random Forest creates multiple Decision Trees. Each tree makes its own prediction, and the Random Forest combines these predictions to give the </a:t>
            </a:r>
            <a:r>
              <a:rPr b="1" lang="en-GB" sz="3250">
                <a:solidFill>
                  <a:schemeClr val="dk1"/>
                </a:solidFill>
              </a:rPr>
              <a:t>final result</a:t>
            </a:r>
            <a:r>
              <a:rPr lang="en-GB" sz="3250">
                <a:solidFill>
                  <a:schemeClr val="dk1"/>
                </a:solidFill>
              </a:rPr>
              <a:t>.</a:t>
            </a:r>
            <a:endParaRPr sz="325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95250" y="-958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356500"/>
            <a:ext cx="8520600" cy="44394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Clr>
                <a:schemeClr val="dk1"/>
              </a:buClr>
              <a:buSzPts val="1100"/>
              <a:buFont typeface="Arial"/>
              <a:buNone/>
            </a:pPr>
            <a:r>
              <a:rPr b="1" lang="en-GB" sz="1500">
                <a:solidFill>
                  <a:schemeClr val="dk1"/>
                </a:solidFill>
              </a:rPr>
              <a:t>6. Model Training</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GB" sz="1300">
                <a:solidFill>
                  <a:schemeClr val="dk1"/>
                </a:solidFill>
              </a:rPr>
              <a:t>Model Training</a:t>
            </a:r>
            <a:r>
              <a:rPr lang="en-GB" sz="1300">
                <a:solidFill>
                  <a:schemeClr val="dk1"/>
                </a:solidFill>
              </a:rPr>
              <a:t> means teaching the model using our patient data.</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Steps:</a:t>
            </a:r>
            <a:endParaRPr b="1" sz="1400">
              <a:solidFill>
                <a:schemeClr val="dk1"/>
              </a:solidFill>
            </a:endParaRPr>
          </a:p>
          <a:p>
            <a:pPr indent="0" lvl="0" marL="0" rtl="0" algn="ctr">
              <a:spcBef>
                <a:spcPts val="1200"/>
              </a:spcBef>
              <a:spcAft>
                <a:spcPts val="0"/>
              </a:spcAft>
              <a:buClr>
                <a:schemeClr val="dk1"/>
              </a:buClr>
              <a:buSzPts val="1100"/>
              <a:buFont typeface="Arial"/>
              <a:buNone/>
            </a:pPr>
            <a:r>
              <a:rPr b="1" lang="en-GB" sz="1300">
                <a:solidFill>
                  <a:schemeClr val="dk1"/>
                </a:solidFill>
              </a:rPr>
              <a:t>Dataset</a:t>
            </a:r>
            <a:br>
              <a:rPr b="1" lang="en-GB" sz="1300">
                <a:solidFill>
                  <a:schemeClr val="dk1"/>
                </a:solidFill>
              </a:rPr>
            </a:br>
            <a:r>
              <a:rPr lang="en-GB" sz="1300">
                <a:solidFill>
                  <a:schemeClr val="dk1"/>
                </a:solidFill>
              </a:rPr>
              <a:t> ↓</a:t>
            </a:r>
            <a:br>
              <a:rPr lang="en-GB" sz="1300">
                <a:solidFill>
                  <a:schemeClr val="dk1"/>
                </a:solidFill>
              </a:rPr>
            </a:br>
            <a:r>
              <a:rPr lang="en-GB" sz="1300">
                <a:solidFill>
                  <a:schemeClr val="dk1"/>
                </a:solidFill>
              </a:rPr>
              <a:t> </a:t>
            </a:r>
            <a:r>
              <a:rPr b="1" lang="en-GB" sz="1300">
                <a:solidFill>
                  <a:schemeClr val="dk1"/>
                </a:solidFill>
              </a:rPr>
              <a:t>Clean &amp; Prepare Data</a:t>
            </a:r>
            <a:br>
              <a:rPr b="1" lang="en-GB" sz="1300">
                <a:solidFill>
                  <a:schemeClr val="dk1"/>
                </a:solidFill>
              </a:rPr>
            </a:br>
            <a:r>
              <a:rPr lang="en-GB" sz="1300">
                <a:solidFill>
                  <a:schemeClr val="dk1"/>
                </a:solidFill>
              </a:rPr>
              <a:t> ↓</a:t>
            </a:r>
            <a:br>
              <a:rPr lang="en-GB" sz="1300">
                <a:solidFill>
                  <a:schemeClr val="dk1"/>
                </a:solidFill>
              </a:rPr>
            </a:br>
            <a:r>
              <a:rPr lang="en-GB" sz="1300">
                <a:solidFill>
                  <a:schemeClr val="dk1"/>
                </a:solidFill>
              </a:rPr>
              <a:t> </a:t>
            </a:r>
            <a:r>
              <a:rPr b="1" lang="en-GB" sz="1300">
                <a:solidFill>
                  <a:schemeClr val="dk1"/>
                </a:solidFill>
              </a:rPr>
              <a:t>Split Data into Train &amp; Test</a:t>
            </a:r>
            <a:br>
              <a:rPr b="1" lang="en-GB" sz="1300">
                <a:solidFill>
                  <a:schemeClr val="dk1"/>
                </a:solidFill>
              </a:rPr>
            </a:br>
            <a:r>
              <a:rPr lang="en-GB" sz="1300">
                <a:solidFill>
                  <a:schemeClr val="dk1"/>
                </a:solidFill>
              </a:rPr>
              <a:t> ↓</a:t>
            </a:r>
            <a:br>
              <a:rPr lang="en-GB" sz="1300">
                <a:solidFill>
                  <a:schemeClr val="dk1"/>
                </a:solidFill>
              </a:rPr>
            </a:br>
            <a:r>
              <a:rPr lang="en-GB" sz="1300">
                <a:solidFill>
                  <a:schemeClr val="dk1"/>
                </a:solidFill>
              </a:rPr>
              <a:t> </a:t>
            </a:r>
            <a:r>
              <a:rPr b="1" lang="en-GB" sz="1300">
                <a:solidFill>
                  <a:schemeClr val="dk1"/>
                </a:solidFill>
              </a:rPr>
              <a:t>Train Random Forest Model</a:t>
            </a:r>
            <a:br>
              <a:rPr b="1" lang="en-GB" sz="1300">
                <a:solidFill>
                  <a:schemeClr val="dk1"/>
                </a:solidFill>
              </a:rPr>
            </a:br>
            <a:r>
              <a:rPr lang="en-GB" sz="1300">
                <a:solidFill>
                  <a:schemeClr val="dk1"/>
                </a:solidFill>
              </a:rPr>
              <a:t> ↓</a:t>
            </a:r>
            <a:br>
              <a:rPr lang="en-GB" sz="1300">
                <a:solidFill>
                  <a:schemeClr val="dk1"/>
                </a:solidFill>
              </a:rPr>
            </a:br>
            <a:r>
              <a:rPr lang="en-GB" sz="1300">
                <a:solidFill>
                  <a:schemeClr val="dk1"/>
                </a:solidFill>
              </a:rPr>
              <a:t> </a:t>
            </a:r>
            <a:r>
              <a:rPr b="1" lang="en-GB" sz="1300">
                <a:solidFill>
                  <a:schemeClr val="dk1"/>
                </a:solidFill>
              </a:rPr>
              <a:t>Check Model Performance</a:t>
            </a:r>
            <a:br>
              <a:rPr b="1" lang="en-GB" sz="1300">
                <a:solidFill>
                  <a:schemeClr val="dk1"/>
                </a:solidFill>
              </a:rPr>
            </a:br>
            <a:r>
              <a:rPr lang="en-GB" sz="1300">
                <a:solidFill>
                  <a:schemeClr val="dk1"/>
                </a:solidFill>
              </a:rPr>
              <a:t> ↓</a:t>
            </a:r>
            <a:br>
              <a:rPr lang="en-GB" sz="1300">
                <a:solidFill>
                  <a:schemeClr val="dk1"/>
                </a:solidFill>
              </a:rPr>
            </a:br>
            <a:r>
              <a:rPr lang="en-GB" sz="1300">
                <a:solidFill>
                  <a:schemeClr val="dk1"/>
                </a:solidFill>
              </a:rPr>
              <a:t> </a:t>
            </a:r>
            <a:r>
              <a:rPr b="1" lang="en-GB" sz="1300">
                <a:solidFill>
                  <a:schemeClr val="dk1"/>
                </a:solidFill>
              </a:rPr>
              <a:t>Save Model</a:t>
            </a:r>
            <a:br>
              <a:rPr b="1" lang="en-GB" sz="1300">
                <a:solidFill>
                  <a:schemeClr val="dk1"/>
                </a:solidFill>
              </a:rPr>
            </a:br>
            <a:r>
              <a:rPr lang="en-GB" sz="1300">
                <a:solidFill>
                  <a:schemeClr val="dk1"/>
                </a:solidFill>
              </a:rPr>
              <a:t> ↓</a:t>
            </a:r>
            <a:br>
              <a:rPr lang="en-GB" sz="1300">
                <a:solidFill>
                  <a:schemeClr val="dk1"/>
                </a:solidFill>
              </a:rPr>
            </a:br>
            <a:r>
              <a:rPr lang="en-GB" sz="1300">
                <a:solidFill>
                  <a:schemeClr val="dk1"/>
                </a:solidFill>
              </a:rPr>
              <a:t> </a:t>
            </a:r>
            <a:r>
              <a:rPr b="1" lang="en-GB" sz="1300">
                <a:solidFill>
                  <a:schemeClr val="dk1"/>
                </a:solidFill>
              </a:rPr>
              <a:t>Use Model in Streamlit App</a:t>
            </a:r>
            <a:endParaRPr b="1"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2" name="Google Shape;92;p1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641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8" name="Google Shape;98;p20"/>
          <p:cNvSpPr txBox="1"/>
          <p:nvPr>
            <p:ph idx="1" type="body"/>
          </p:nvPr>
        </p:nvSpPr>
        <p:spPr>
          <a:xfrm>
            <a:off x="311700" y="512475"/>
            <a:ext cx="8520600" cy="39381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GB" sz="1500">
                <a:solidFill>
                  <a:schemeClr val="dk1"/>
                </a:solidFill>
              </a:rPr>
              <a:t>7. Model Evaluation </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GB" sz="1300">
                <a:solidFill>
                  <a:schemeClr val="dk1"/>
                </a:solidFill>
              </a:rPr>
              <a:t>Model Evaluation</a:t>
            </a:r>
            <a:r>
              <a:rPr lang="en-GB" sz="1300">
                <a:solidFill>
                  <a:schemeClr val="dk1"/>
                </a:solidFill>
              </a:rPr>
              <a:t> means checking how well our model predicts heart disease.</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GB" sz="1500">
                <a:solidFill>
                  <a:schemeClr val="dk1"/>
                </a:solidFill>
              </a:rPr>
              <a:t>Accuracy</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Accuracy tells us </a:t>
            </a:r>
            <a:r>
              <a:rPr b="1" lang="en-GB" sz="1300">
                <a:solidFill>
                  <a:schemeClr val="dk1"/>
                </a:solidFill>
              </a:rPr>
              <a:t>how many predictions the model got correct</a:t>
            </a:r>
            <a:r>
              <a:rPr lang="en-GB" sz="1300">
                <a:solidFill>
                  <a:schemeClr val="dk1"/>
                </a:solidFill>
              </a:rPr>
              <a:t>.</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GB" sz="1500">
                <a:solidFill>
                  <a:schemeClr val="dk1"/>
                </a:solidFill>
              </a:rPr>
              <a:t>Formula:</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rgbClr val="188038"/>
                </a:solidFill>
                <a:latin typeface="Roboto Mono"/>
                <a:ea typeface="Roboto Mono"/>
                <a:cs typeface="Roboto Mono"/>
                <a:sym typeface="Roboto Mono"/>
              </a:rPr>
              <a:t>Accuracy = Correct Predictions / Total Predictions</a:t>
            </a:r>
            <a:endParaRPr sz="13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b="1" lang="en-GB" sz="1300">
                <a:solidFill>
                  <a:schemeClr val="dk1"/>
                </a:solidFill>
              </a:rPr>
              <a:t>Example:</a:t>
            </a:r>
            <a:endParaRPr b="1" sz="1300">
              <a:solidFill>
                <a:schemeClr val="dk1"/>
              </a:solidFill>
            </a:endParaRPr>
          </a:p>
          <a:p>
            <a:pPr indent="0" lvl="0" marL="381000" marR="381000" rtl="0" algn="l">
              <a:spcBef>
                <a:spcPts val="1200"/>
              </a:spcBef>
              <a:spcAft>
                <a:spcPts val="0"/>
              </a:spcAft>
              <a:buClr>
                <a:schemeClr val="dk1"/>
              </a:buClr>
              <a:buSzPts val="1100"/>
              <a:buFont typeface="Arial"/>
              <a:buNone/>
            </a:pPr>
            <a:r>
              <a:rPr lang="en-GB" sz="1300">
                <a:solidFill>
                  <a:schemeClr val="dk1"/>
                </a:solidFill>
              </a:rPr>
              <a:t>Accuracy = 92%</a:t>
            </a:r>
            <a:endParaRPr sz="1300">
              <a:solidFill>
                <a:schemeClr val="dk1"/>
              </a:solidFill>
            </a:endParaRPr>
          </a:p>
          <a:p>
            <a:pPr indent="0" lvl="0" marL="0" rtl="0" algn="l">
              <a:spcBef>
                <a:spcPts val="1200"/>
              </a:spcBef>
              <a:spcAft>
                <a:spcPts val="1200"/>
              </a:spcAft>
              <a:buNone/>
            </a:pPr>
            <a:r>
              <a:rPr lang="en-GB" sz="1300">
                <a:solidFill>
                  <a:schemeClr val="dk1"/>
                </a:solidFill>
              </a:rPr>
              <a:t>This means the model made </a:t>
            </a:r>
            <a:r>
              <a:rPr b="1" lang="en-GB" sz="1300">
                <a:solidFill>
                  <a:schemeClr val="dk1"/>
                </a:solidFill>
              </a:rPr>
              <a:t>92% correct predictions</a:t>
            </a:r>
            <a:r>
              <a:rPr lang="en-GB" sz="1300">
                <a:solidFill>
                  <a:schemeClr val="dk1"/>
                </a:solidFill>
              </a:rPr>
              <a:t>.</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5" name="Google Shape;105;p21"/>
          <p:cNvPicPr preferRelativeResize="0"/>
          <p:nvPr/>
        </p:nvPicPr>
        <p:blipFill>
          <a:blip r:embed="rId3">
            <a:alphaModFix/>
          </a:blip>
          <a:stretch>
            <a:fillRect/>
          </a:stretch>
        </p:blipFill>
        <p:spPr>
          <a:xfrm>
            <a:off x="0" y="0"/>
            <a:ext cx="9144000" cy="3336525"/>
          </a:xfrm>
          <a:prstGeom prst="rect">
            <a:avLst/>
          </a:prstGeom>
          <a:noFill/>
          <a:ln>
            <a:noFill/>
          </a:ln>
        </p:spPr>
      </p:pic>
      <p:pic>
        <p:nvPicPr>
          <p:cNvPr id="106" name="Google Shape;106;p21"/>
          <p:cNvPicPr preferRelativeResize="0"/>
          <p:nvPr/>
        </p:nvPicPr>
        <p:blipFill rotWithShape="1">
          <a:blip r:embed="rId4">
            <a:alphaModFix/>
          </a:blip>
          <a:srcRect b="0" l="0" r="0" t="16819"/>
          <a:stretch/>
        </p:blipFill>
        <p:spPr>
          <a:xfrm>
            <a:off x="0" y="3336525"/>
            <a:ext cx="9144000" cy="1806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1058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2" name="Google Shape;112;p22"/>
          <p:cNvSpPr txBox="1"/>
          <p:nvPr>
            <p:ph idx="1" type="body"/>
          </p:nvPr>
        </p:nvSpPr>
        <p:spPr>
          <a:xfrm>
            <a:off x="311700" y="245100"/>
            <a:ext cx="8520600" cy="43239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Clr>
                <a:schemeClr val="dk1"/>
              </a:buClr>
              <a:buSzPts val="1100"/>
              <a:buFont typeface="Arial"/>
              <a:buNone/>
            </a:pPr>
            <a:r>
              <a:rPr b="1" lang="en-GB" sz="1500">
                <a:solidFill>
                  <a:schemeClr val="dk1"/>
                </a:solidFill>
              </a:rPr>
              <a:t>Precision</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Precision tells us </a:t>
            </a:r>
            <a:r>
              <a:rPr b="1" lang="en-GB" sz="1300">
                <a:solidFill>
                  <a:schemeClr val="dk1"/>
                </a:solidFill>
              </a:rPr>
              <a:t>how many of the patients predicted as positive were actually positive</a:t>
            </a:r>
            <a:r>
              <a:rPr lang="en-GB" sz="1300">
                <a:solidFill>
                  <a:schemeClr val="dk1"/>
                </a:solidFill>
              </a:rPr>
              <a:t>.</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GB" sz="1500">
                <a:solidFill>
                  <a:schemeClr val="dk1"/>
                </a:solidFill>
              </a:rPr>
              <a:t>Formula:</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rgbClr val="188038"/>
                </a:solidFill>
                <a:latin typeface="Roboto Mono"/>
                <a:ea typeface="Roboto Mono"/>
                <a:cs typeface="Roboto Mono"/>
                <a:sym typeface="Roboto Mono"/>
              </a:rPr>
              <a:t>Precision = TP / (TP + FP)</a:t>
            </a:r>
            <a:endParaRPr sz="13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b="1" lang="en-GB" sz="1500">
                <a:solidFill>
                  <a:schemeClr val="dk1"/>
                </a:solidFill>
              </a:rPr>
              <a:t>Simple words:</a:t>
            </a:r>
            <a:endParaRPr b="1" sz="1500">
              <a:solidFill>
                <a:schemeClr val="dk1"/>
              </a:solidFill>
            </a:endParaRPr>
          </a:p>
          <a:p>
            <a:pPr indent="0" lvl="0" marL="381000" marR="381000" rtl="0" algn="l">
              <a:spcBef>
                <a:spcPts val="1200"/>
              </a:spcBef>
              <a:spcAft>
                <a:spcPts val="0"/>
              </a:spcAft>
              <a:buClr>
                <a:schemeClr val="dk1"/>
              </a:buClr>
              <a:buSzPts val="1100"/>
              <a:buFont typeface="Arial"/>
              <a:buNone/>
            </a:pPr>
            <a:r>
              <a:rPr b="1" lang="en-GB" sz="1300">
                <a:solidFill>
                  <a:schemeClr val="dk1"/>
                </a:solidFill>
              </a:rPr>
              <a:t>Precision = Correct Positive Predictions / Total Positive Predictions</a:t>
            </a:r>
            <a:endParaRPr b="1" sz="1300">
              <a:solidFill>
                <a:schemeClr val="dk1"/>
              </a:solidFill>
            </a:endParaRPr>
          </a:p>
          <a:p>
            <a:pPr indent="0" lvl="0" marL="0" rtl="0" algn="l">
              <a:spcBef>
                <a:spcPts val="1400"/>
              </a:spcBef>
              <a:spcAft>
                <a:spcPts val="0"/>
              </a:spcAft>
              <a:buClr>
                <a:schemeClr val="dk1"/>
              </a:buClr>
              <a:buSzPts val="1100"/>
              <a:buFont typeface="Arial"/>
              <a:buNone/>
            </a:pPr>
            <a:r>
              <a:rPr b="1" lang="en-GB" sz="1500">
                <a:solidFill>
                  <a:schemeClr val="dk1"/>
                </a:solidFill>
              </a:rPr>
              <a:t>Recall</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Recall tells us </a:t>
            </a:r>
            <a:r>
              <a:rPr b="1" lang="en-GB" sz="1300">
                <a:solidFill>
                  <a:schemeClr val="dk1"/>
                </a:solidFill>
              </a:rPr>
              <a:t>how many patients who actually have heart disease were correctly identified by the model.</a:t>
            </a:r>
            <a:endParaRPr sz="13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b="1" lang="en-GB" sz="1500">
                <a:solidFill>
                  <a:schemeClr val="dk1"/>
                </a:solidFill>
              </a:rPr>
              <a:t>Simple words:</a:t>
            </a:r>
            <a:endParaRPr b="1" sz="1500">
              <a:solidFill>
                <a:schemeClr val="dk1"/>
              </a:solidFill>
            </a:endParaRPr>
          </a:p>
          <a:p>
            <a:pPr indent="0" lvl="0" marL="381000" marR="381000" rtl="0" algn="l">
              <a:spcBef>
                <a:spcPts val="1200"/>
              </a:spcBef>
              <a:spcAft>
                <a:spcPts val="0"/>
              </a:spcAft>
              <a:buClr>
                <a:schemeClr val="dk1"/>
              </a:buClr>
              <a:buSzPts val="1100"/>
              <a:buFont typeface="Arial"/>
              <a:buNone/>
            </a:pPr>
            <a:r>
              <a:rPr b="1" lang="en-GB" sz="1300">
                <a:solidFill>
                  <a:schemeClr val="dk1"/>
                </a:solidFill>
              </a:rPr>
              <a:t>Recall = Correctly Identified Patients / Total Actual Patients</a:t>
            </a:r>
            <a:endParaRPr b="1"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78550" y="-77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8" name="Google Shape;118;p23"/>
          <p:cNvSpPr txBox="1"/>
          <p:nvPr>
            <p:ph idx="1" type="body"/>
          </p:nvPr>
        </p:nvSpPr>
        <p:spPr>
          <a:xfrm>
            <a:off x="311700" y="529175"/>
            <a:ext cx="8520600" cy="40398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GB" sz="1408">
                <a:solidFill>
                  <a:schemeClr val="dk1"/>
                </a:solidFill>
              </a:rPr>
              <a:t>F1-Score</a:t>
            </a:r>
            <a:endParaRPr b="1" sz="1408">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F1-Score shows the </a:t>
            </a:r>
            <a:r>
              <a:rPr b="1" lang="en-GB" sz="1300">
                <a:solidFill>
                  <a:schemeClr val="dk1"/>
                </a:solidFill>
              </a:rPr>
              <a:t>overall performance of Precision and Recall together</a:t>
            </a:r>
            <a:r>
              <a:rPr lang="en-GB" sz="1300">
                <a:solidFill>
                  <a:schemeClr val="dk1"/>
                </a:solidFill>
              </a:rPr>
              <a:t>.</a:t>
            </a:r>
            <a:endParaRPr sz="1300">
              <a:solidFill>
                <a:schemeClr val="dk1"/>
              </a:solidFill>
            </a:endParaRPr>
          </a:p>
          <a:p>
            <a:pPr indent="0" lvl="0" marL="381000" marR="381000" rtl="0" algn="l">
              <a:spcBef>
                <a:spcPts val="1200"/>
              </a:spcBef>
              <a:spcAft>
                <a:spcPts val="0"/>
              </a:spcAft>
              <a:buClr>
                <a:schemeClr val="dk1"/>
              </a:buClr>
              <a:buSzPts val="1100"/>
              <a:buFont typeface="Arial"/>
              <a:buNone/>
            </a:pPr>
            <a:r>
              <a:rPr b="1" lang="en-GB" sz="1300">
                <a:solidFill>
                  <a:schemeClr val="dk1"/>
                </a:solidFill>
              </a:rPr>
              <a:t>F1-Score = Combination of Precision and Recall</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In your project:</a:t>
            </a:r>
            <a:endParaRPr sz="1300">
              <a:solidFill>
                <a:schemeClr val="dk1"/>
              </a:solidFill>
            </a:endParaRPr>
          </a:p>
          <a:p>
            <a:pPr indent="0" lvl="0" marL="381000" marR="381000" rtl="0" algn="l">
              <a:spcBef>
                <a:spcPts val="1200"/>
              </a:spcBef>
              <a:spcAft>
                <a:spcPts val="0"/>
              </a:spcAft>
              <a:buClr>
                <a:schemeClr val="dk1"/>
              </a:buClr>
              <a:buSzPts val="1100"/>
              <a:buFont typeface="Arial"/>
              <a:buNone/>
            </a:pPr>
            <a:r>
              <a:rPr b="1" lang="en-GB" sz="1300">
                <a:solidFill>
                  <a:schemeClr val="dk1"/>
                </a:solidFill>
              </a:rPr>
              <a:t>F1-Score = 1.00 (100%)</a:t>
            </a:r>
            <a:endParaRPr b="1" sz="1300">
              <a:solidFill>
                <a:schemeClr val="dk1"/>
              </a:solidFill>
            </a:endParaRPr>
          </a:p>
          <a:p>
            <a:pPr indent="0" lvl="0" marL="0" rtl="0" algn="l">
              <a:spcBef>
                <a:spcPts val="1400"/>
              </a:spcBef>
              <a:spcAft>
                <a:spcPts val="0"/>
              </a:spcAft>
              <a:buClr>
                <a:schemeClr val="dk1"/>
              </a:buClr>
              <a:buSzPts val="1100"/>
              <a:buFont typeface="Arial"/>
              <a:buNone/>
            </a:pPr>
            <a:r>
              <a:rPr b="1" lang="en-GB" sz="1500">
                <a:solidFill>
                  <a:schemeClr val="dk1"/>
                </a:solidFill>
              </a:rPr>
              <a:t>Support</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GB" sz="1300">
                <a:solidFill>
                  <a:schemeClr val="dk1"/>
                </a:solidFill>
              </a:rPr>
              <a:t>Support</a:t>
            </a:r>
            <a:r>
              <a:rPr lang="en-GB" sz="1300">
                <a:solidFill>
                  <a:schemeClr val="dk1"/>
                </a:solidFill>
              </a:rPr>
              <a:t> tells us the </a:t>
            </a:r>
            <a:r>
              <a:rPr b="1" lang="en-GB" sz="1300">
                <a:solidFill>
                  <a:schemeClr val="dk1"/>
                </a:solidFill>
              </a:rPr>
              <a:t>number of actual patients in each class</a:t>
            </a:r>
            <a:r>
              <a:rPr lang="en-GB" sz="1300">
                <a:solidFill>
                  <a:schemeClr val="dk1"/>
                </a:solidFill>
              </a:rPr>
              <a:t> in the test data.</a:t>
            </a:r>
            <a:endParaRPr sz="13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In your report:</a:t>
            </a:r>
            <a:endParaRPr sz="1300">
              <a:solidFill>
                <a:schemeClr val="dk1"/>
              </a:solidFill>
            </a:endParaRPr>
          </a:p>
          <a:p>
            <a:pPr indent="-311150" lvl="0" marL="457200" rtl="0" algn="l">
              <a:spcBef>
                <a:spcPts val="1200"/>
              </a:spcBef>
              <a:spcAft>
                <a:spcPts val="0"/>
              </a:spcAft>
              <a:buClr>
                <a:schemeClr val="dk1"/>
              </a:buClr>
              <a:buSzPts val="1300"/>
              <a:buChar char="●"/>
            </a:pPr>
            <a:r>
              <a:rPr b="1" lang="en-GB" sz="1300">
                <a:solidFill>
                  <a:schemeClr val="dk1"/>
                </a:solidFill>
              </a:rPr>
              <a:t>Class 0 → 100 patients</a:t>
            </a:r>
            <a:r>
              <a:rPr lang="en-GB" sz="1300">
                <a:solidFill>
                  <a:schemeClr val="dk1"/>
                </a:solidFill>
              </a:rPr>
              <a:t> — No Heart Disease</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Class 1 → 105 patients</a:t>
            </a:r>
            <a:r>
              <a:rPr lang="en-GB" sz="1300">
                <a:solidFill>
                  <a:schemeClr val="dk1"/>
                </a:solidFill>
              </a:rPr>
              <a:t> — Heart Disease</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Total → 205 patients</a:t>
            </a:r>
            <a:endParaRPr b="1"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774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4" name="Google Shape;124;p24"/>
          <p:cNvSpPr txBox="1"/>
          <p:nvPr>
            <p:ph idx="1" type="body"/>
          </p:nvPr>
        </p:nvSpPr>
        <p:spPr>
          <a:xfrm>
            <a:off x="311700" y="462325"/>
            <a:ext cx="8520600" cy="313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5" name="Google Shape;125;p24" title="Screenshot 2026-09-30 160219.png"/>
          <p:cNvPicPr preferRelativeResize="0"/>
          <p:nvPr/>
        </p:nvPicPr>
        <p:blipFill>
          <a:blip r:embed="rId3">
            <a:alphaModFix/>
          </a:blip>
          <a:stretch>
            <a:fillRect/>
          </a:stretch>
        </p:blipFill>
        <p:spPr>
          <a:xfrm>
            <a:off x="214313" y="1002688"/>
            <a:ext cx="8715375" cy="3138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198700" y="-685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1" name="Google Shape;131;p25"/>
          <p:cNvSpPr txBox="1"/>
          <p:nvPr>
            <p:ph idx="1" type="body"/>
          </p:nvPr>
        </p:nvSpPr>
        <p:spPr>
          <a:xfrm>
            <a:off x="311700" y="425125"/>
            <a:ext cx="8520600" cy="4143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500">
                <a:solidFill>
                  <a:schemeClr val="dk1"/>
                </a:solidFill>
              </a:rPr>
              <a:t>Confusion Matrix</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GB" sz="1300">
                <a:solidFill>
                  <a:schemeClr val="dk1"/>
                </a:solidFill>
              </a:rPr>
              <a:t>Confusion Matrix shows how many predictions were correct and incorrect.</a:t>
            </a:r>
            <a:endParaRPr b="1" sz="1300">
              <a:solidFill>
                <a:schemeClr val="dk1"/>
              </a:solidFill>
            </a:endParaRPr>
          </a:p>
          <a:p>
            <a:pPr indent="-311150" lvl="0" marL="457200" rtl="0" algn="l">
              <a:lnSpc>
                <a:spcPct val="150000"/>
              </a:lnSpc>
              <a:spcBef>
                <a:spcPts val="1200"/>
              </a:spcBef>
              <a:spcAft>
                <a:spcPts val="0"/>
              </a:spcAft>
              <a:buClr>
                <a:schemeClr val="dk1"/>
              </a:buClr>
              <a:buSzPts val="1300"/>
              <a:buAutoNum type="arabicPeriod"/>
            </a:pPr>
            <a:r>
              <a:rPr b="1" lang="en-GB" sz="1300">
                <a:solidFill>
                  <a:schemeClr val="dk1"/>
                </a:solidFill>
              </a:rPr>
              <a:t>TP (True Positive):</a:t>
            </a:r>
            <a:r>
              <a:rPr lang="en-GB" sz="1300">
                <a:solidFill>
                  <a:schemeClr val="dk1"/>
                </a:solidFill>
              </a:rPr>
              <a:t> Patient has heart disease → Model predicts heart disease.</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n-GB" sz="1300">
                <a:solidFill>
                  <a:schemeClr val="dk1"/>
                </a:solidFill>
              </a:rPr>
              <a:t>TN (True Negative):</a:t>
            </a:r>
            <a:r>
              <a:rPr lang="en-GB" sz="1300">
                <a:solidFill>
                  <a:schemeClr val="dk1"/>
                </a:solidFill>
              </a:rPr>
              <a:t> Patient has no heart disease → Model predicts no heart disease.</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n-GB" sz="1300">
                <a:solidFill>
                  <a:schemeClr val="dk1"/>
                </a:solidFill>
              </a:rPr>
              <a:t>FP (False Positive):</a:t>
            </a:r>
            <a:r>
              <a:rPr lang="en-GB" sz="1300">
                <a:solidFill>
                  <a:schemeClr val="dk1"/>
                </a:solidFill>
              </a:rPr>
              <a:t> Patient has no heart disease → Model predicts heart disease.</a:t>
            </a:r>
            <a:endParaRPr sz="1300">
              <a:solidFill>
                <a:schemeClr val="dk1"/>
              </a:solidFill>
            </a:endParaRPr>
          </a:p>
          <a:p>
            <a:pPr indent="-311150" lvl="0" marL="457200" rtl="0" algn="l">
              <a:lnSpc>
                <a:spcPct val="150000"/>
              </a:lnSpc>
              <a:spcBef>
                <a:spcPts val="0"/>
              </a:spcBef>
              <a:spcAft>
                <a:spcPts val="0"/>
              </a:spcAft>
              <a:buClr>
                <a:schemeClr val="dk1"/>
              </a:buClr>
              <a:buSzPts val="1300"/>
              <a:buAutoNum type="arabicPeriod"/>
            </a:pPr>
            <a:r>
              <a:rPr b="1" lang="en-GB" sz="1300">
                <a:solidFill>
                  <a:schemeClr val="dk1"/>
                </a:solidFill>
              </a:rPr>
              <a:t>FN (False Negative):</a:t>
            </a:r>
            <a:r>
              <a:rPr lang="en-GB" sz="1300">
                <a:solidFill>
                  <a:schemeClr val="dk1"/>
                </a:solidFill>
              </a:rPr>
              <a:t> Patient has heart disease → Model predicts no heart disease.</a:t>
            </a:r>
            <a:endParaRPr sz="1300">
              <a:solidFill>
                <a:schemeClr val="dk1"/>
              </a:solidFill>
            </a:endParaRPr>
          </a:p>
          <a:p>
            <a:pPr indent="0" lvl="0" marL="0" rtl="0" algn="l">
              <a:spcBef>
                <a:spcPts val="1200"/>
              </a:spcBef>
              <a:spcAft>
                <a:spcPts val="1200"/>
              </a:spcAft>
              <a:buNone/>
            </a:pPr>
            <a:r>
              <a:t/>
            </a:r>
            <a:endParaRPr/>
          </a:p>
        </p:txBody>
      </p:sp>
      <p:pic>
        <p:nvPicPr>
          <p:cNvPr id="132" name="Google Shape;132;p25"/>
          <p:cNvPicPr preferRelativeResize="0"/>
          <p:nvPr/>
        </p:nvPicPr>
        <p:blipFill>
          <a:blip r:embed="rId3">
            <a:alphaModFix/>
          </a:blip>
          <a:stretch>
            <a:fillRect/>
          </a:stretch>
        </p:blipFill>
        <p:spPr>
          <a:xfrm>
            <a:off x="1553875" y="2684775"/>
            <a:ext cx="5810250" cy="1809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435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GB" sz="1520"/>
              <a:t>9. Streamlit Application </a:t>
            </a:r>
            <a:endParaRPr b="1" sz="1520"/>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26"/>
          <p:cNvPicPr preferRelativeResize="0"/>
          <p:nvPr/>
        </p:nvPicPr>
        <p:blipFill rotWithShape="1">
          <a:blip r:embed="rId3">
            <a:alphaModFix/>
          </a:blip>
          <a:srcRect b="11902" l="0" r="0" t="0"/>
          <a:stretch/>
        </p:blipFill>
        <p:spPr>
          <a:xfrm>
            <a:off x="0" y="880025"/>
            <a:ext cx="9143998" cy="4263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5" name="Google Shape;14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6" name="Google Shape;146;p2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2" name="Google Shape;15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3" name="Google Shape;153;p28"/>
          <p:cNvPicPr preferRelativeResize="0"/>
          <p:nvPr/>
        </p:nvPicPr>
        <p:blipFill>
          <a:blip r:embed="rId3">
            <a:alphaModFix/>
          </a:blip>
          <a:stretch>
            <a:fillRect/>
          </a:stretch>
        </p:blipFill>
        <p:spPr>
          <a:xfrm>
            <a:off x="-91475" y="-86100"/>
            <a:ext cx="9331275" cy="52296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9" name="Google Shape;15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0" name="Google Shape;160;p29"/>
          <p:cNvPicPr preferRelativeResize="0"/>
          <p:nvPr/>
        </p:nvPicPr>
        <p:blipFill>
          <a:blip r:embed="rId3">
            <a:alphaModFix/>
          </a:blip>
          <a:stretch>
            <a:fillRect/>
          </a:stretch>
        </p:blipFill>
        <p:spPr>
          <a:xfrm>
            <a:off x="0" y="0"/>
            <a:ext cx="9144000"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6" name="Google Shape;16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30"/>
          <p:cNvPicPr preferRelativeResize="0"/>
          <p:nvPr/>
        </p:nvPicPr>
        <p:blipFill>
          <a:blip r:embed="rId3">
            <a:alphaModFix/>
          </a:blip>
          <a:stretch>
            <a:fillRect/>
          </a:stretch>
        </p:blipFill>
        <p:spPr>
          <a:xfrm>
            <a:off x="0" y="0"/>
            <a:ext cx="9223650"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3" name="Google Shape;17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4" name="Google Shape;174;p31"/>
          <p:cNvPicPr preferRelativeResize="0"/>
          <p:nvPr/>
        </p:nvPicPr>
        <p:blipFill>
          <a:blip r:embed="rId3">
            <a:alphaModFix/>
          </a:blip>
          <a:stretch>
            <a:fillRect/>
          </a:stretch>
        </p:blipFill>
        <p:spPr>
          <a:xfrm>
            <a:off x="0" y="0"/>
            <a:ext cx="9143999" cy="51435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0" name="Google Shape;180;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1" name="Google Shape;181;p32"/>
          <p:cNvPicPr preferRelativeResize="0"/>
          <p:nvPr/>
        </p:nvPicPr>
        <p:blipFill>
          <a:blip r:embed="rId3">
            <a:alphaModFix/>
          </a:blip>
          <a:stretch>
            <a:fillRect/>
          </a:stretch>
        </p:blipFill>
        <p:spPr>
          <a:xfrm>
            <a:off x="0" y="0"/>
            <a:ext cx="9144002"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7" name="Google Shape;18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8" name="Google Shape;188;p33"/>
          <p:cNvPicPr preferRelativeResize="0"/>
          <p:nvPr/>
        </p:nvPicPr>
        <p:blipFill>
          <a:blip r:embed="rId3">
            <a:alphaModFix/>
          </a:blip>
          <a:stretch>
            <a:fillRect/>
          </a:stretch>
        </p:blipFill>
        <p:spPr>
          <a:xfrm>
            <a:off x="0" y="0"/>
            <a:ext cx="9143999" cy="51434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4" name="Google Shape;19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5" name="Google Shape;195;p3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